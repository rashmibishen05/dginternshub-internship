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6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65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63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5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68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1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66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86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5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15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2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293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96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57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789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60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23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1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yber Security of Digital Data Network Protection.">
            <a:extLst>
              <a:ext uri="{FF2B5EF4-FFF2-40B4-BE49-F238E27FC236}">
                <a16:creationId xmlns:a16="http://schemas.microsoft.com/office/drawing/2014/main" id="{B776FE5C-8710-FB2E-59BE-B5D89D4AC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8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79" y="1403873"/>
            <a:ext cx="11018521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8299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WEEK 2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rPr sz="4800" dirty="0"/>
              <a:t>Network Traffic Analysis,</a:t>
            </a:r>
            <a:r>
              <a:rPr lang="en-US" sz="4800" dirty="0"/>
              <a:t> </a:t>
            </a:r>
            <a:r>
              <a:rPr sz="4800" dirty="0"/>
              <a:t>Nmap </a:t>
            </a:r>
            <a:r>
              <a:rPr lang="en-US" sz="4800" dirty="0"/>
              <a:t>&amp;</a:t>
            </a:r>
            <a:r>
              <a:rPr sz="4800" dirty="0"/>
              <a:t> Windows Logging</a:t>
            </a:r>
            <a:endParaRPr lang="en-IN" sz="4800" dirty="0"/>
          </a:p>
        </p:txBody>
      </p:sp>
      <p:sp>
        <p:nvSpPr>
          <p:cNvPr id="5" name="TextBox 4"/>
          <p:cNvSpPr txBox="1"/>
          <p:nvPr/>
        </p:nvSpPr>
        <p:spPr>
          <a:xfrm>
            <a:off x="8703833" y="5245249"/>
            <a:ext cx="31833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Rashmi Bishen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FFFFFF"/>
                </a:solidFill>
              </a:defRPr>
            </a:pP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DG Interns Hub  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FFFFFF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30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1257523"/>
            <a:ext cx="313521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rPr sz="28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2: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65712"/>
            <a:ext cx="8181571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+mj-lt"/>
              <a:buAutoNum type="arabicPeriod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TCP connection setup, data transfer and teardown.</a:t>
            </a:r>
          </a:p>
          <a:p>
            <a:pPr marL="342900" indent="-342900" algn="just">
              <a:spcAft>
                <a:spcPts val="1200"/>
              </a:spcAft>
              <a:buFont typeface="+mj-lt"/>
              <a:buAutoNum type="arabicPeriod"/>
              <a:defRPr sz="1700">
                <a:solidFill>
                  <a:srgbClr val="232F3A"/>
                </a:solidFill>
              </a:defRPr>
            </a:pP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Recognise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normal and suspicious patterns in common network protocols.</a:t>
            </a:r>
          </a:p>
          <a:p>
            <a:pPr marL="342900" indent="-342900" algn="just">
              <a:spcAft>
                <a:spcPts val="1200"/>
              </a:spcAft>
              <a:buFont typeface="+mj-lt"/>
              <a:buAutoNum type="arabicPeriod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Wireshark capture and display filters to isolate relevant traffic.</a:t>
            </a:r>
          </a:p>
          <a:p>
            <a:pPr marL="342900" indent="-342900" algn="just">
              <a:spcAft>
                <a:spcPts val="1200"/>
              </a:spcAft>
              <a:buFont typeface="+mj-lt"/>
              <a:buAutoNum type="arabicPeriod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Nmap scan types and understand their network footprint.</a:t>
            </a:r>
          </a:p>
          <a:p>
            <a:pPr marL="342900" indent="-342900" algn="just">
              <a:spcAft>
                <a:spcPts val="1200"/>
              </a:spcAft>
              <a:buFont typeface="+mj-lt"/>
              <a:buAutoNum type="arabicPeriod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 Windows Security events and logon types.</a:t>
            </a:r>
          </a:p>
          <a:p>
            <a:pPr marL="342900" indent="-342900" algn="just">
              <a:spcAft>
                <a:spcPts val="1200"/>
              </a:spcAft>
              <a:buFont typeface="+mj-lt"/>
              <a:buAutoNum type="arabicPeriod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baseline mindset for SOC investigations.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64229" y="398371"/>
            <a:ext cx="62760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rPr sz="2800" dirty="0">
                <a:solidFill>
                  <a:schemeClr val="tx1">
                    <a:lumMod val="95000"/>
                  </a:schemeClr>
                </a:solidFill>
              </a:rPr>
              <a:t>TCP: Handshake, Flags and Teardown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7928" y="1866401"/>
            <a:ext cx="632921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sz="1600" dirty="0">
                <a:solidFill>
                  <a:schemeClr val="tx1">
                    <a:lumMod val="95000"/>
                  </a:schemeClr>
                </a:solidFill>
              </a:rPr>
              <a:t>Handshake: SYN → SYN-ACK → ACK establishes a TCP session.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sz="1600" dirty="0">
                <a:solidFill>
                  <a:schemeClr val="tx1">
                    <a:lumMod val="95000"/>
                  </a:schemeClr>
                </a:solidFill>
              </a:rPr>
              <a:t>Graceful close: FIN/ACK exchanges close each direction.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sz="1600" dirty="0">
                <a:solidFill>
                  <a:schemeClr val="tx1">
                    <a:lumMod val="95000"/>
                  </a:schemeClr>
                </a:solidFill>
              </a:rPr>
              <a:t>RST terminates a connection abruptly.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sz="1600" dirty="0">
                <a:solidFill>
                  <a:schemeClr val="tx1">
                    <a:lumMod val="95000"/>
                  </a:schemeClr>
                </a:solidFill>
              </a:rPr>
              <a:t>SYN bursts without completed handshakes can be a scan indicator.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sz="1600" dirty="0">
                <a:solidFill>
                  <a:schemeClr val="tx1">
                    <a:lumMod val="95000"/>
                  </a:schemeClr>
                </a:solidFill>
              </a:rPr>
              <a:t>ACK, PSH and URG must be interpreted in connection context.</a:t>
            </a:r>
          </a:p>
        </p:txBody>
      </p:sp>
      <p:pic>
        <p:nvPicPr>
          <p:cNvPr id="2050" name="Picture 2" descr="How TCP Three-Way Handshake Establishes Reliable Connections | Aniruddh Brahmbhatt posted on the topic | LinkedIn">
            <a:extLst>
              <a:ext uri="{FF2B5EF4-FFF2-40B4-BE49-F238E27FC236}">
                <a16:creationId xmlns:a16="http://schemas.microsoft.com/office/drawing/2014/main" id="{209358DB-482C-886E-F8D0-ED14F040D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00" y="1442431"/>
            <a:ext cx="4547257" cy="4547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1302" y="685223"/>
            <a:ext cx="57708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rPr sz="28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 Traffic: What to Look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7558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579"/>
                </a:solidFill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DG Interns Hub  |  Week 2                                    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302" y="1311236"/>
            <a:ext cx="11044844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DNS: query volume, unusual domains, repeated NXDOMAIN and unexpected resolvers.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 methods, host, URI, status codes, user-agent and clear-text sensitive data.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HTTPS/TLS: handshake metadata, certificate validity, SNI and protocol/cipher anomalies.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ARP: unexpected IP-to-MAC changes or conflicting ARP replies.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ICMP: echo patterns, sweeps, unusual volume </a:t>
            </a:r>
            <a:endParaRPr lang="en-US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error messages.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SMB: expected internal sharing versus unusual </a:t>
            </a:r>
            <a:endParaRPr lang="en-US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access, authentication failures or lateral movement.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8F35AA-91A6-78BC-D59B-5630FC073A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71" t="6858" r="3179" b="27542"/>
          <a:stretch>
            <a:fillRect/>
          </a:stretch>
        </p:blipFill>
        <p:spPr bwMode="auto">
          <a:xfrm>
            <a:off x="5394036" y="3041538"/>
            <a:ext cx="6549968" cy="36198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31498"/>
            <a:ext cx="61744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rPr sz="2800" dirty="0">
                <a:solidFill>
                  <a:schemeClr val="tx1">
                    <a:lumMod val="95000"/>
                  </a:schemeClr>
                </a:solidFill>
              </a:rPr>
              <a:t>Wireshark: Capture vs Display Filters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782" y="1625635"/>
            <a:ext cx="58568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 filters (BPF) restrict what is saved; excluded packets are not in the capture.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filters narrow the visible packet list without deleting captured packets.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dns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http.request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tls.handshake</a:t>
            </a:r>
            <a:endParaRPr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 view: 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tcp.flags.syn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==1 &amp;&amp; 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tcp.flags.ack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B787C-CBAF-6DD2-4F7C-03922E343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31" y="1625635"/>
            <a:ext cx="6260687" cy="36943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49915"/>
            <a:ext cx="67110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rPr sz="28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Nmap: Scan Types and Network Footprint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4722" y="1233808"/>
            <a:ext cx="5449645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host discovery only; ARP/ICMP/TCP/UDP probes may be visible.</a:t>
            </a:r>
          </a:p>
          <a:p>
            <a:pPr>
              <a:spcAft>
                <a:spcPts val="1200"/>
              </a:spcAft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half-open SYN scan; SYN followed by SYN-ACK or RST responses.</a:t>
            </a:r>
          </a:p>
          <a:p>
            <a:pPr>
              <a:spcAft>
                <a:spcPts val="1200"/>
              </a:spcAft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full TCP connect; completes handshake and is more likely to reach service logs.</a:t>
            </a:r>
          </a:p>
          <a:p>
            <a:pPr>
              <a:spcAft>
                <a:spcPts val="1200"/>
              </a:spcAft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UDP probes; may produce UDP replies or ICMP port-unreachable messages.</a:t>
            </a:r>
          </a:p>
          <a:p>
            <a:pPr>
              <a:spcAft>
                <a:spcPts val="1200"/>
              </a:spcAft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-O / -A: service probes, OS fingerprinting and broader combined probing.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B49430-8191-20BA-11C4-D85498B4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375" y="1079351"/>
            <a:ext cx="6462320" cy="40922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6732" y="597367"/>
            <a:ext cx="39035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rPr sz="28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6733" y="1232910"/>
            <a:ext cx="618475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 are running program instances identified by process IDs.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 are background components managed by the Service Control Manager.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Registry stores hierarchical system, user and application configuration.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and groups define identities and permission assignments.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UAC introduces an elevation boundary for administrative actions.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Viewer: Application, Security and System logs provide different viewpoints.</a:t>
            </a:r>
          </a:p>
        </p:txBody>
      </p:sp>
      <p:pic>
        <p:nvPicPr>
          <p:cNvPr id="3074" name="Picture 2" descr="A Guide to Windows Task Manager – WebNots">
            <a:extLst>
              <a:ext uri="{FF2B5EF4-FFF2-40B4-BE49-F238E27FC236}">
                <a16:creationId xmlns:a16="http://schemas.microsoft.com/office/drawing/2014/main" id="{2FF489C9-90C1-459F-9C9C-6826C3B18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511" y="1120587"/>
            <a:ext cx="5276757" cy="4222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32750"/>
            <a:ext cx="55930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Windows Security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485" y="1177962"/>
            <a:ext cx="5736515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4624 / 4625: successful / failed logon.</a:t>
            </a:r>
          </a:p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4634 / 4648 / 4672: logoff / explicit credentials / special privileges.</a:t>
            </a:r>
          </a:p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4688 / 4697: process creation / service installation.</a:t>
            </a:r>
          </a:p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4720 / 4722 / 4724: account creation / account enablement / password reset attempt.</a:t>
            </a:r>
          </a:p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4732: member added to a local security-enabled group.</a:t>
            </a:r>
          </a:p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4768 / 4769 / 4776: Kerberos TGT / service ticket / NTLM credential validation.</a:t>
            </a:r>
          </a:p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1102: Security audit log cleared; investigate promptly.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1" y="437345"/>
            <a:ext cx="57365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Logon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1177962"/>
            <a:ext cx="6121998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Interactive: local console sign-in.</a:t>
            </a:r>
          </a:p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Network: access to a network resource.</a:t>
            </a:r>
          </a:p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Batch: scheduled/batch activity.</a:t>
            </a:r>
          </a:p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Service: service account logon.</a:t>
            </a:r>
          </a:p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Unlock: unlock an existing session.</a:t>
            </a:r>
          </a:p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RemoteInteractive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Remote Desktop session.</a:t>
            </a:r>
          </a:p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CachedInteractive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cached domain credentials used while offline.</a:t>
            </a:r>
          </a:p>
          <a:p>
            <a:pPr>
              <a:spcAft>
                <a:spcPts val="1200"/>
              </a:spcAft>
              <a:defRPr sz="17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Always compare account, source, time, host and expected role.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5495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Hands-on: Traffic Capture and Nmap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332" y="1203055"/>
            <a:ext cx="81760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Ubuntu VM: Apache installed as the HTTP target.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 VM: ping, curl and 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nslookup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generated ICMP, HTTP </a:t>
            </a:r>
            <a:b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DNS traffic.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Wireshark: captured handshake, HTTP GET, DNS query and </a:t>
            </a:r>
            <a:b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ICMP echo; PCAP saved.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Nmap: -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-O and -A run against 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authorised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Ubuntu and Windows VMs.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 saved in normal and XML </a:t>
            </a:r>
            <a:endParaRPr lang="en-US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formats; SYN scan captured with the </a:t>
            </a:r>
            <a:b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SYN-only display filter.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A54CD5-16F1-1B07-39B9-B84C2B1E5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312" y="3778741"/>
            <a:ext cx="7290216" cy="28425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5076D7-EB21-C6EB-FE15-5EA60A6F40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809" b="6749"/>
          <a:stretch>
            <a:fillRect/>
          </a:stretch>
        </p:blipFill>
        <p:spPr>
          <a:xfrm>
            <a:off x="6496919" y="236753"/>
            <a:ext cx="5523119" cy="25756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6607" y="687593"/>
            <a:ext cx="51315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rPr sz="28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Evidence, Findings and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6607" y="1467522"/>
            <a:ext cx="1069848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set: PCAP, Wireshark screenshots, Nmap -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/-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oX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outputs and Event Viewer screenshots.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PowerShell CSV supports account-level failed-logon review.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= documented normal 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users, hosts, services and network traffic.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context helps reduce false positives and </a:t>
            </a:r>
            <a:r>
              <a:rPr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prioritise</a:t>
            </a: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meaningful deviations.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actual screenshots and measured findings from the Findings/Captures folders.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345232-9CD0-7946-61B8-AAF669A9E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571"/>
          <a:stretch>
            <a:fillRect/>
          </a:stretch>
        </p:blipFill>
        <p:spPr>
          <a:xfrm>
            <a:off x="1850240" y="3894056"/>
            <a:ext cx="8491213" cy="26445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6607" y="1034730"/>
            <a:ext cx="54066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rPr sz="28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Week 3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6607" y="2077123"/>
            <a:ext cx="1069848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 connected packet-level observations with Windows host-level telemetry.</a:t>
            </a:r>
          </a:p>
          <a:p>
            <a:pPr algn="just">
              <a:spcAft>
                <a:spcPts val="1200"/>
              </a:spcAft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SYN burst is a useful network indicator; Windows events add account and endpoint context.</a:t>
            </a:r>
          </a:p>
          <a:p>
            <a:pPr algn="just">
              <a:spcAft>
                <a:spcPts val="1200"/>
              </a:spcAft>
              <a:defRPr sz="1900">
                <a:solidFill>
                  <a:srgbClr val="232F3A"/>
                </a:solidFill>
              </a:defRPr>
            </a:pPr>
            <a:endParaRPr lang="en-US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3 can build on this foundation with endpoint monitoring and IDS/Snort detection.</a:t>
            </a:r>
          </a:p>
          <a:p>
            <a:pPr algn="just">
              <a:spcAft>
                <a:spcPts val="1200"/>
              </a:spcAft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step: correlate network alerts with logon, process, service and group-change events.</a:t>
            </a:r>
            <a:endParaRPr lang="en-US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  <a:defRPr sz="1900">
                <a:solidFill>
                  <a:srgbClr val="232F3A"/>
                </a:solidFill>
              </a:defRPr>
            </a:pPr>
            <a:endParaRPr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  <a:defRPr sz="1900">
                <a:solidFill>
                  <a:srgbClr val="232F3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21</TotalTime>
  <Words>857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Calisto MT</vt:lpstr>
      <vt:lpstr>Times New Roman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Kunal Jain</cp:lastModifiedBy>
  <cp:revision>4</cp:revision>
  <dcterms:created xsi:type="dcterms:W3CDTF">2013-01-27T09:14:16Z</dcterms:created>
  <dcterms:modified xsi:type="dcterms:W3CDTF">2026-10-30T17:11:58Z</dcterms:modified>
  <cp:category/>
</cp:coreProperties>
</file>